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2" r:id="rId6"/>
    <p:sldId id="270" r:id="rId7"/>
    <p:sldId id="264" r:id="rId8"/>
    <p:sldId id="265" r:id="rId9"/>
    <p:sldId id="266" r:id="rId10"/>
  </p:sldIdLst>
  <p:sldSz cx="18288000" cy="10287000"/>
  <p:notesSz cx="6858000" cy="9144000"/>
  <p:embeddedFontLst>
    <p:embeddedFont>
      <p:font typeface="Georgia" pitchFamily="18" charset="0"/>
      <p:regular r:id="rId11"/>
      <p:bold r:id="rId12"/>
      <p:italic r:id="rId13"/>
      <p:boldItalic r:id="rId14"/>
    </p:embeddedFont>
    <p:embeddedFont>
      <p:font typeface="Georgia Bold" pitchFamily="18" charset="0"/>
      <p:bold r:id="rId15"/>
    </p:embeddedFont>
    <p:embeddedFont>
      <p:font typeface="TT Interphases" charset="0"/>
      <p:regular r:id="rId16"/>
    </p:embeddedFont>
    <p:embeddedFont>
      <p:font typeface="Calibri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48" d="100"/>
          <a:sy n="48" d="100"/>
        </p:scale>
        <p:origin x="-7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25000" y="1263653"/>
            <a:ext cx="8629650" cy="8724900"/>
            <a:chOff x="0" y="0"/>
            <a:chExt cx="11506200" cy="11633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506200" cy="11633200"/>
            </a:xfrm>
            <a:custGeom>
              <a:avLst/>
              <a:gdLst/>
              <a:ahLst/>
              <a:cxnLst/>
              <a:rect l="l" t="t" r="r" b="b"/>
              <a:pathLst>
                <a:path w="11506200" h="11633200">
                  <a:moveTo>
                    <a:pt x="0" y="0"/>
                  </a:moveTo>
                  <a:lnTo>
                    <a:pt x="11506200" y="0"/>
                  </a:lnTo>
                  <a:lnTo>
                    <a:pt x="11506200" y="11633200"/>
                  </a:lnTo>
                  <a:lnTo>
                    <a:pt x="0" y="11633200"/>
                  </a:lnTo>
                  <a:close/>
                </a:path>
              </a:pathLst>
            </a:custGeom>
            <a:blipFill>
              <a:blip r:embed="rId2"/>
              <a:stretch>
                <a:fillRect t="-25" b="-25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33350" y="2121970"/>
            <a:ext cx="9972675" cy="3929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36"/>
              </a:lnSpc>
            </a:pPr>
            <a:r>
              <a:rPr lang="en-US" sz="5600" b="1" dirty="0" err="1" smtClean="0">
                <a:solidFill>
                  <a:srgbClr val="D3D9E2"/>
                </a:solidFill>
                <a:latin typeface="Georgia Bold"/>
                <a:ea typeface="Georgia Bold"/>
                <a:cs typeface="Georgia Bold"/>
                <a:sym typeface="Georgia Bold"/>
              </a:rPr>
              <a:t>AGROSOLAR</a:t>
            </a:r>
            <a:r>
              <a:rPr lang="en-US" sz="5600" b="1" dirty="0" smtClean="0">
                <a:solidFill>
                  <a:srgbClr val="D3D9E2"/>
                </a:solidFill>
                <a:latin typeface="Georgia Bold"/>
                <a:ea typeface="Georgia Bold"/>
                <a:cs typeface="Georgia Bold"/>
                <a:sym typeface="Georgia Bold"/>
              </a:rPr>
              <a:t> </a:t>
            </a:r>
            <a:r>
              <a:rPr lang="en-US" sz="5600" b="1" dirty="0" err="1" smtClean="0">
                <a:solidFill>
                  <a:srgbClr val="D3D9E2"/>
                </a:solidFill>
                <a:latin typeface="Georgia Bold"/>
                <a:ea typeface="Georgia Bold"/>
                <a:cs typeface="Georgia Bold"/>
                <a:sym typeface="Georgia Bold"/>
              </a:rPr>
              <a:t>TECHNOPRENEURSHIP</a:t>
            </a:r>
            <a:r>
              <a:rPr lang="en-US" sz="5600" b="1" dirty="0" smtClean="0">
                <a:solidFill>
                  <a:srgbClr val="D3D9E2"/>
                </a:solidFill>
                <a:latin typeface="Georgia Bold"/>
                <a:ea typeface="Georgia Bold"/>
                <a:cs typeface="Georgia Bold"/>
                <a:sym typeface="Georgia Bold"/>
              </a:rPr>
              <a:t> </a:t>
            </a:r>
          </a:p>
          <a:p>
            <a:pPr algn="l">
              <a:lnSpc>
                <a:spcPts val="7836"/>
              </a:lnSpc>
            </a:pPr>
            <a:r>
              <a:rPr lang="en-US" sz="5600" b="1" dirty="0" smtClean="0">
                <a:solidFill>
                  <a:srgbClr val="D3D9E2"/>
                </a:solidFill>
                <a:latin typeface="Georgia Bold"/>
                <a:ea typeface="Georgia Bold"/>
                <a:cs typeface="Georgia Bold"/>
                <a:sym typeface="Georgia Bold"/>
              </a:rPr>
              <a:t>AND INNOVATION CENTRE (</a:t>
            </a:r>
            <a:r>
              <a:rPr lang="en-US" sz="5600" b="1" dirty="0" err="1">
                <a:solidFill>
                  <a:srgbClr val="D3D9E2"/>
                </a:solidFill>
                <a:latin typeface="Georgia Bold"/>
                <a:ea typeface="Georgia Bold"/>
                <a:cs typeface="Georgia Bold"/>
                <a:sym typeface="Georgia Bold"/>
              </a:rPr>
              <a:t>ASTIC</a:t>
            </a:r>
            <a:r>
              <a:rPr lang="en-US" sz="5600" b="1" dirty="0">
                <a:solidFill>
                  <a:srgbClr val="D3D9E2"/>
                </a:solidFill>
                <a:latin typeface="Georgia Bold"/>
                <a:ea typeface="Georgia Bold"/>
                <a:cs typeface="Georgia Bold"/>
                <a:sym typeface="Georgia Bold"/>
              </a:rPr>
              <a:t>)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61988" y="1258891"/>
            <a:ext cx="16964025" cy="9525"/>
            <a:chOff x="0" y="0"/>
            <a:chExt cx="22618700" cy="12700"/>
          </a:xfrm>
        </p:grpSpPr>
        <p:sp>
          <p:nvSpPr>
            <p:cNvPr id="7" name="Freeform 7"/>
            <p:cNvSpPr/>
            <p:nvPr/>
          </p:nvSpPr>
          <p:spPr>
            <a:xfrm>
              <a:off x="6350" y="0"/>
              <a:ext cx="22606000" cy="12700"/>
            </a:xfrm>
            <a:custGeom>
              <a:avLst/>
              <a:gdLst/>
              <a:ahLst/>
              <a:cxnLst/>
              <a:rect l="l" t="t" r="r" b="b"/>
              <a:pathLst>
                <a:path w="22606000" h="12700">
                  <a:moveTo>
                    <a:pt x="0" y="0"/>
                  </a:moveTo>
                  <a:lnTo>
                    <a:pt x="22606000" y="0"/>
                  </a:lnTo>
                  <a:lnTo>
                    <a:pt x="22606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3D9E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76400" y="272415"/>
            <a:ext cx="15925800" cy="1013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5400" b="1" dirty="0" smtClean="0">
                <a:solidFill>
                  <a:srgbClr val="D3D9E2"/>
                </a:solidFill>
                <a:latin typeface="Georgia Bold"/>
                <a:ea typeface="Georgia Bold"/>
                <a:cs typeface="Georgia Bold"/>
                <a:sym typeface="Georgia Bold"/>
              </a:rPr>
              <a:t>PROJECT PARTNERS AND THEIR ROLES</a:t>
            </a:r>
            <a:endParaRPr lang="en-US" sz="5400" b="1" dirty="0">
              <a:solidFill>
                <a:srgbClr val="D3D9E2"/>
              </a:solidFill>
              <a:latin typeface="Georgia Bold"/>
              <a:ea typeface="Georgia Bold"/>
              <a:cs typeface="Georgia Bold"/>
              <a:sym typeface="Georgia Bold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4562475" y="1933575"/>
            <a:ext cx="4333875" cy="19050"/>
            <a:chOff x="0" y="0"/>
            <a:chExt cx="5778500" cy="25400"/>
          </a:xfrm>
        </p:grpSpPr>
        <p:sp>
          <p:nvSpPr>
            <p:cNvPr id="4" name="Freeform 4"/>
            <p:cNvSpPr/>
            <p:nvPr/>
          </p:nvSpPr>
          <p:spPr>
            <a:xfrm>
              <a:off x="16891" y="0"/>
              <a:ext cx="5753100" cy="33909"/>
            </a:xfrm>
            <a:custGeom>
              <a:avLst/>
              <a:gdLst/>
              <a:ahLst/>
              <a:cxnLst/>
              <a:rect l="l" t="t" r="r" b="b"/>
              <a:pathLst>
                <a:path w="5753100" h="33909">
                  <a:moveTo>
                    <a:pt x="0" y="0"/>
                  </a:moveTo>
                  <a:lnTo>
                    <a:pt x="5753100" y="0"/>
                  </a:lnTo>
                  <a:lnTo>
                    <a:pt x="575310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D3D9E2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572000" y="3147536"/>
            <a:ext cx="4314825" cy="2183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799">
                <a:solidFill>
                  <a:srgbClr val="D3D9E2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Lead institution with expertise in industrial chemistry, Agriculture overseeing project execution and student training initiatives.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572000" y="2565559"/>
            <a:ext cx="4314825" cy="286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4400">
                <a:solidFill>
                  <a:srgbClr val="7EA9D9"/>
                </a:solidFill>
                <a:latin typeface="Georgia"/>
                <a:ea typeface="Georgia"/>
                <a:cs typeface="Georgia"/>
                <a:sym typeface="Georgia"/>
              </a:rPr>
              <a:t>UNIUYO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010775" y="1933575"/>
            <a:ext cx="4333875" cy="19050"/>
            <a:chOff x="0" y="0"/>
            <a:chExt cx="5778500" cy="25400"/>
          </a:xfrm>
        </p:grpSpPr>
        <p:sp>
          <p:nvSpPr>
            <p:cNvPr id="8" name="Freeform 8"/>
            <p:cNvSpPr/>
            <p:nvPr/>
          </p:nvSpPr>
          <p:spPr>
            <a:xfrm>
              <a:off x="16891" y="0"/>
              <a:ext cx="5753100" cy="33909"/>
            </a:xfrm>
            <a:custGeom>
              <a:avLst/>
              <a:gdLst/>
              <a:ahLst/>
              <a:cxnLst/>
              <a:rect l="l" t="t" r="r" b="b"/>
              <a:pathLst>
                <a:path w="5753100" h="33909">
                  <a:moveTo>
                    <a:pt x="0" y="0"/>
                  </a:moveTo>
                  <a:lnTo>
                    <a:pt x="5753100" y="0"/>
                  </a:lnTo>
                  <a:lnTo>
                    <a:pt x="575310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D3D9E2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020300" y="3147536"/>
            <a:ext cx="4314825" cy="2183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799">
                <a:solidFill>
                  <a:srgbClr val="D3D9E2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Responsible for governance and evaluation, ensuring sustainability and quality in project execution and outcomes.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020300" y="2565559"/>
            <a:ext cx="4314825" cy="286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4400">
                <a:solidFill>
                  <a:srgbClr val="7EA9D9"/>
                </a:solidFill>
                <a:latin typeface="Georgia"/>
                <a:ea typeface="Georgia"/>
                <a:cs typeface="Georgia"/>
                <a:sym typeface="Georgia"/>
              </a:rPr>
              <a:t>MMU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4562475" y="6410325"/>
            <a:ext cx="4333875" cy="19050"/>
            <a:chOff x="0" y="0"/>
            <a:chExt cx="5778500" cy="25400"/>
          </a:xfrm>
        </p:grpSpPr>
        <p:sp>
          <p:nvSpPr>
            <p:cNvPr id="12" name="Freeform 12"/>
            <p:cNvSpPr/>
            <p:nvPr/>
          </p:nvSpPr>
          <p:spPr>
            <a:xfrm>
              <a:off x="16891" y="0"/>
              <a:ext cx="5753100" cy="33909"/>
            </a:xfrm>
            <a:custGeom>
              <a:avLst/>
              <a:gdLst/>
              <a:ahLst/>
              <a:cxnLst/>
              <a:rect l="l" t="t" r="r" b="b"/>
              <a:pathLst>
                <a:path w="5753100" h="33909">
                  <a:moveTo>
                    <a:pt x="0" y="0"/>
                  </a:moveTo>
                  <a:lnTo>
                    <a:pt x="5753100" y="0"/>
                  </a:lnTo>
                  <a:lnTo>
                    <a:pt x="575310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D3D9E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4572000" y="7624286"/>
            <a:ext cx="4314825" cy="2183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799">
                <a:solidFill>
                  <a:srgbClr val="D3D9E2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Offers environmental microbiology expertise, linking project outputs with relevant government policies and training support.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65073" y="6621144"/>
            <a:ext cx="4314825" cy="893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4400" dirty="0">
                <a:solidFill>
                  <a:srgbClr val="7EA9D9"/>
                </a:solidFill>
                <a:latin typeface="Georgia"/>
                <a:ea typeface="Georgia"/>
                <a:cs typeface="Georgia"/>
                <a:sym typeface="Georgia"/>
              </a:rPr>
              <a:t>Benue State Polytechnic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0010775" y="6410325"/>
            <a:ext cx="4333875" cy="19050"/>
            <a:chOff x="0" y="0"/>
            <a:chExt cx="5778500" cy="25400"/>
          </a:xfrm>
        </p:grpSpPr>
        <p:sp>
          <p:nvSpPr>
            <p:cNvPr id="16" name="Freeform 16"/>
            <p:cNvSpPr/>
            <p:nvPr/>
          </p:nvSpPr>
          <p:spPr>
            <a:xfrm>
              <a:off x="16891" y="0"/>
              <a:ext cx="5753100" cy="33909"/>
            </a:xfrm>
            <a:custGeom>
              <a:avLst/>
              <a:gdLst/>
              <a:ahLst/>
              <a:cxnLst/>
              <a:rect l="l" t="t" r="r" b="b"/>
              <a:pathLst>
                <a:path w="5753100" h="33909">
                  <a:moveTo>
                    <a:pt x="0" y="0"/>
                  </a:moveTo>
                  <a:lnTo>
                    <a:pt x="5753100" y="0"/>
                  </a:lnTo>
                  <a:lnTo>
                    <a:pt x="575310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D3D9E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020300" y="7624286"/>
            <a:ext cx="4314825" cy="1811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799">
                <a:solidFill>
                  <a:srgbClr val="D3D9E2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Technical lead for solar prototype design and installation, providing industry connections and sustainability insights.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020300" y="7042309"/>
            <a:ext cx="4314825" cy="286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4400">
                <a:solidFill>
                  <a:srgbClr val="7EA9D9"/>
                </a:solidFill>
                <a:latin typeface="Georgia"/>
                <a:ea typeface="Georgia"/>
                <a:cs typeface="Georgia"/>
                <a:sym typeface="Georgia"/>
              </a:rPr>
              <a:t>TISG Ltd</a:t>
            </a:r>
          </a:p>
        </p:txBody>
      </p:sp>
      <p:sp>
        <p:nvSpPr>
          <p:cNvPr id="19" name="Freeform 19"/>
          <p:cNvSpPr/>
          <p:nvPr/>
        </p:nvSpPr>
        <p:spPr>
          <a:xfrm>
            <a:off x="666750" y="6153150"/>
            <a:ext cx="2571750" cy="2571750"/>
          </a:xfrm>
          <a:custGeom>
            <a:avLst/>
            <a:gdLst/>
            <a:ahLst/>
            <a:cxnLst/>
            <a:rect l="l" t="t" r="r" b="b"/>
            <a:pathLst>
              <a:path w="2571750" h="2571750">
                <a:moveTo>
                  <a:pt x="0" y="0"/>
                </a:moveTo>
                <a:lnTo>
                  <a:pt x="2571750" y="0"/>
                </a:lnTo>
                <a:lnTo>
                  <a:pt x="2571750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 t="-185" b="-185"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91600" y="666750"/>
            <a:ext cx="9296400" cy="9620250"/>
            <a:chOff x="0" y="0"/>
            <a:chExt cx="12395200" cy="12827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395200" cy="12827000"/>
            </a:xfrm>
            <a:custGeom>
              <a:avLst/>
              <a:gdLst/>
              <a:ahLst/>
              <a:cxnLst/>
              <a:rect l="l" t="t" r="r" b="b"/>
              <a:pathLst>
                <a:path w="12395200" h="12827000">
                  <a:moveTo>
                    <a:pt x="0" y="0"/>
                  </a:moveTo>
                  <a:lnTo>
                    <a:pt x="12395200" y="0"/>
                  </a:lnTo>
                  <a:lnTo>
                    <a:pt x="12395200" y="12827000"/>
                  </a:lnTo>
                  <a:lnTo>
                    <a:pt x="0" y="12827000"/>
                  </a:lnTo>
                  <a:close/>
                </a:path>
              </a:pathLst>
            </a:custGeom>
            <a:blipFill>
              <a:blip r:embed="rId2"/>
              <a:stretch>
                <a:fillRect t="-32" b="-32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13799" y="781050"/>
            <a:ext cx="9010650" cy="1013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000" b="1" dirty="0" smtClean="0">
                <a:solidFill>
                  <a:srgbClr val="D3D9E2"/>
                </a:solidFill>
                <a:latin typeface="Georgia"/>
                <a:ea typeface="Georgia"/>
                <a:cs typeface="Georgia"/>
                <a:sym typeface="Georgia"/>
              </a:rPr>
              <a:t>PROJECT OVERVIEW</a:t>
            </a:r>
            <a:endParaRPr lang="en-US" sz="6000" b="1" dirty="0">
              <a:solidFill>
                <a:srgbClr val="D3D9E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661988" y="9620250"/>
            <a:ext cx="5762625" cy="9525"/>
            <a:chOff x="0" y="0"/>
            <a:chExt cx="7683500" cy="12700"/>
          </a:xfrm>
        </p:grpSpPr>
        <p:sp>
          <p:nvSpPr>
            <p:cNvPr id="6" name="Freeform 6"/>
            <p:cNvSpPr/>
            <p:nvPr/>
          </p:nvSpPr>
          <p:spPr>
            <a:xfrm>
              <a:off x="6350" y="0"/>
              <a:ext cx="7670800" cy="12700"/>
            </a:xfrm>
            <a:custGeom>
              <a:avLst/>
              <a:gdLst/>
              <a:ahLst/>
              <a:cxnLst/>
              <a:rect l="l" t="t" r="r" b="b"/>
              <a:pathLst>
                <a:path w="7670800" h="12700">
                  <a:moveTo>
                    <a:pt x="0" y="0"/>
                  </a:moveTo>
                  <a:lnTo>
                    <a:pt x="7670800" y="0"/>
                  </a:lnTo>
                  <a:lnTo>
                    <a:pt x="76708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3D9E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13799" y="2171700"/>
            <a:ext cx="8703383" cy="443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3600" dirty="0">
                <a:solidFill>
                  <a:srgbClr val="D3D9E2"/>
                </a:solidFill>
                <a:latin typeface="TT Interphases" panose="020B0604020202020204" charset="0"/>
                <a:ea typeface="Georgia"/>
                <a:cs typeface="Georgia"/>
                <a:sym typeface="Georgia"/>
              </a:rPr>
              <a:t>The </a:t>
            </a:r>
            <a:r>
              <a:rPr lang="en-US" sz="3600" b="1" dirty="0">
                <a:solidFill>
                  <a:srgbClr val="D3D9E2"/>
                </a:solidFill>
                <a:latin typeface="TT Interphases" panose="020B0604020202020204" charset="0"/>
                <a:ea typeface="Georgia Bold"/>
                <a:cs typeface="Georgia Bold"/>
                <a:sym typeface="Georgia Bold"/>
              </a:rPr>
              <a:t>AgroSolar Technopreneurship and Innovation Centre (ASTIC)</a:t>
            </a:r>
            <a:r>
              <a:rPr lang="en-US" sz="3600" dirty="0">
                <a:solidFill>
                  <a:srgbClr val="D3D9E2"/>
                </a:solidFill>
                <a:latin typeface="TT Interphases" panose="020B0604020202020204" charset="0"/>
                <a:ea typeface="Georgia"/>
                <a:cs typeface="Georgia"/>
                <a:sym typeface="Georgia"/>
              </a:rPr>
              <a:t> aims to integrate </a:t>
            </a:r>
            <a:r>
              <a:rPr lang="en-US" sz="3600" b="1" dirty="0">
                <a:solidFill>
                  <a:srgbClr val="D3D9E2"/>
                </a:solidFill>
                <a:latin typeface="TT Interphases" panose="020B0604020202020204" charset="0"/>
                <a:ea typeface="Georgia Bold"/>
                <a:cs typeface="Georgia Bold"/>
                <a:sym typeface="Georgia Bold"/>
              </a:rPr>
              <a:t>solar energy</a:t>
            </a:r>
            <a:r>
              <a:rPr lang="en-US" sz="3600" dirty="0">
                <a:solidFill>
                  <a:srgbClr val="D3D9E2"/>
                </a:solidFill>
                <a:latin typeface="TT Interphases" panose="020B0604020202020204" charset="0"/>
                <a:ea typeface="Georgia"/>
                <a:cs typeface="Georgia"/>
                <a:sym typeface="Georgia"/>
              </a:rPr>
              <a:t> into agricultural practices, enhancing productivity and sustainability. By fostering innovation and education, this initiative will develop essential skills for students in green technology and </a:t>
            </a:r>
            <a:r>
              <a:rPr lang="en-US" sz="3600" dirty="0" err="1">
                <a:solidFill>
                  <a:srgbClr val="D3D9E2"/>
                </a:solidFill>
                <a:latin typeface="TT Interphases" panose="020B0604020202020204" charset="0"/>
                <a:ea typeface="Georgia"/>
                <a:cs typeface="Georgia"/>
                <a:sym typeface="Georgia"/>
              </a:rPr>
              <a:t>agro</a:t>
            </a:r>
            <a:r>
              <a:rPr lang="en-US" sz="3600" dirty="0">
                <a:solidFill>
                  <a:srgbClr val="D3D9E2"/>
                </a:solidFill>
                <a:latin typeface="TT Interphases" panose="020B0604020202020204" charset="0"/>
                <a:ea typeface="Georgia"/>
                <a:cs typeface="Georgia"/>
                <a:sym typeface="Georgia"/>
              </a:rPr>
              <a:t>-processing.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781050"/>
            <a:ext cx="15516225" cy="938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6000" b="1" dirty="0" smtClean="0">
                <a:solidFill>
                  <a:srgbClr val="D3D9E2"/>
                </a:solidFill>
                <a:latin typeface="Georgia Bold"/>
                <a:ea typeface="Georgia Bold"/>
                <a:cs typeface="Georgia Bold"/>
                <a:sym typeface="Georgia Bold"/>
              </a:rPr>
              <a:t>PROJECT OBJECTIVES</a:t>
            </a:r>
            <a:endParaRPr lang="en-US" sz="6000" b="1" dirty="0">
              <a:solidFill>
                <a:srgbClr val="D3D9E2"/>
              </a:solidFill>
              <a:latin typeface="Georgia Bold"/>
              <a:ea typeface="Georgia Bold"/>
              <a:cs typeface="Georgia Bold"/>
              <a:sym typeface="Georgia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66750" y="3584132"/>
            <a:ext cx="4314825" cy="1811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799" dirty="0">
                <a:solidFill>
                  <a:srgbClr val="D3D9E2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Create and validate a solar-powered </a:t>
            </a:r>
            <a:r>
              <a:rPr lang="en-US" sz="2799" dirty="0" err="1">
                <a:solidFill>
                  <a:srgbClr val="D3D9E2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agro</a:t>
            </a:r>
            <a:r>
              <a:rPr lang="en-US" sz="2799" dirty="0">
                <a:solidFill>
                  <a:srgbClr val="D3D9E2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-processing prototype that meets industry standards for sustainability.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38200" y="2736733"/>
            <a:ext cx="4953000" cy="457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4400" dirty="0">
                <a:solidFill>
                  <a:srgbClr val="7EA9D9"/>
                </a:solidFill>
                <a:latin typeface="Georgia"/>
                <a:ea typeface="Georgia"/>
                <a:cs typeface="Georgia"/>
                <a:sym typeface="Georgia"/>
              </a:rPr>
              <a:t>Develop Prototype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57225" y="2449830"/>
            <a:ext cx="4333875" cy="19050"/>
            <a:chOff x="0" y="0"/>
            <a:chExt cx="5778500" cy="25400"/>
          </a:xfrm>
        </p:grpSpPr>
        <p:sp>
          <p:nvSpPr>
            <p:cNvPr id="6" name="Freeform 6"/>
            <p:cNvSpPr/>
            <p:nvPr/>
          </p:nvSpPr>
          <p:spPr>
            <a:xfrm>
              <a:off x="16891" y="0"/>
              <a:ext cx="5753100" cy="33909"/>
            </a:xfrm>
            <a:custGeom>
              <a:avLst/>
              <a:gdLst/>
              <a:ahLst/>
              <a:cxnLst/>
              <a:rect l="l" t="t" r="r" b="b"/>
              <a:pathLst>
                <a:path w="5753100" h="33909">
                  <a:moveTo>
                    <a:pt x="0" y="0"/>
                  </a:moveTo>
                  <a:lnTo>
                    <a:pt x="5753100" y="0"/>
                  </a:lnTo>
                  <a:lnTo>
                    <a:pt x="575310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D3D9E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105525" y="2454592"/>
            <a:ext cx="4333875" cy="19050"/>
            <a:chOff x="0" y="0"/>
            <a:chExt cx="5778500" cy="25400"/>
          </a:xfrm>
        </p:grpSpPr>
        <p:sp>
          <p:nvSpPr>
            <p:cNvPr id="8" name="Freeform 8"/>
            <p:cNvSpPr/>
            <p:nvPr/>
          </p:nvSpPr>
          <p:spPr>
            <a:xfrm>
              <a:off x="16891" y="0"/>
              <a:ext cx="5753100" cy="33909"/>
            </a:xfrm>
            <a:custGeom>
              <a:avLst/>
              <a:gdLst/>
              <a:ahLst/>
              <a:cxnLst/>
              <a:rect l="l" t="t" r="r" b="b"/>
              <a:pathLst>
                <a:path w="5753100" h="33909">
                  <a:moveTo>
                    <a:pt x="0" y="0"/>
                  </a:moveTo>
                  <a:lnTo>
                    <a:pt x="5753100" y="0"/>
                  </a:lnTo>
                  <a:lnTo>
                    <a:pt x="575310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D3D9E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115050" y="3659029"/>
            <a:ext cx="4314825" cy="1811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799" dirty="0">
                <a:solidFill>
                  <a:srgbClr val="D3D9E2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Develop a modular training toolkit integrating EDI principles within the UNIUYO curriculum for student engagement.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42759" y="2768613"/>
            <a:ext cx="4449041" cy="457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4400" dirty="0">
                <a:solidFill>
                  <a:srgbClr val="7EA9D9"/>
                </a:solidFill>
                <a:latin typeface="Georgia"/>
                <a:ea typeface="Georgia"/>
                <a:cs typeface="Georgia"/>
                <a:sym typeface="Georgia"/>
              </a:rPr>
              <a:t>Co-design Toolkit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68150" y="3668554"/>
            <a:ext cx="4314825" cy="2183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799">
                <a:solidFill>
                  <a:srgbClr val="D3D9E2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Enhance student skills in green enterprise, circular economy, and technopreneurship for future employment opportunities.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868150" y="2813819"/>
            <a:ext cx="4314825" cy="286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4400" dirty="0">
                <a:solidFill>
                  <a:srgbClr val="7EA9D9"/>
                </a:solidFill>
                <a:latin typeface="Georgia"/>
                <a:ea typeface="Georgia"/>
                <a:cs typeface="Georgia"/>
                <a:sym typeface="Georgia"/>
              </a:rPr>
              <a:t>Build Capacity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1858625" y="2459355"/>
            <a:ext cx="4333875" cy="19050"/>
            <a:chOff x="0" y="0"/>
            <a:chExt cx="5778500" cy="25400"/>
          </a:xfrm>
        </p:grpSpPr>
        <p:sp>
          <p:nvSpPr>
            <p:cNvPr id="14" name="Freeform 14"/>
            <p:cNvSpPr/>
            <p:nvPr/>
          </p:nvSpPr>
          <p:spPr>
            <a:xfrm>
              <a:off x="16891" y="0"/>
              <a:ext cx="5753100" cy="33909"/>
            </a:xfrm>
            <a:custGeom>
              <a:avLst/>
              <a:gdLst/>
              <a:ahLst/>
              <a:cxnLst/>
              <a:rect l="l" t="t" r="r" b="b"/>
              <a:pathLst>
                <a:path w="5753100" h="33909">
                  <a:moveTo>
                    <a:pt x="0" y="0"/>
                  </a:moveTo>
                  <a:lnTo>
                    <a:pt x="5753100" y="0"/>
                  </a:lnTo>
                  <a:lnTo>
                    <a:pt x="575310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D3D9E2"/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txBody>
            <a:bodyPr/>
            <a:lstStyle/>
            <a:p>
              <a:endParaRPr lang="en-GB">
                <a:solidFill>
                  <a:schemeClr val="bg1"/>
                </a:solidFill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57225" y="6393180"/>
            <a:ext cx="4333875" cy="19050"/>
            <a:chOff x="0" y="0"/>
            <a:chExt cx="5778500" cy="25400"/>
          </a:xfrm>
        </p:grpSpPr>
        <p:sp>
          <p:nvSpPr>
            <p:cNvPr id="16" name="Freeform 16"/>
            <p:cNvSpPr/>
            <p:nvPr/>
          </p:nvSpPr>
          <p:spPr>
            <a:xfrm>
              <a:off x="16891" y="0"/>
              <a:ext cx="5753100" cy="33909"/>
            </a:xfrm>
            <a:custGeom>
              <a:avLst/>
              <a:gdLst/>
              <a:ahLst/>
              <a:cxnLst/>
              <a:rect l="l" t="t" r="r" b="b"/>
              <a:pathLst>
                <a:path w="5753100" h="33909">
                  <a:moveTo>
                    <a:pt x="0" y="0"/>
                  </a:moveTo>
                  <a:lnTo>
                    <a:pt x="5753100" y="0"/>
                  </a:lnTo>
                  <a:lnTo>
                    <a:pt x="575310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D3D9E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66750" y="7597616"/>
            <a:ext cx="4314825" cy="1811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799">
                <a:solidFill>
                  <a:srgbClr val="D3D9E2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Strengthen collaborations between UK and Nigerian institutions to promote shared knowledge and technical expertise.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66750" y="7015639"/>
            <a:ext cx="5448300" cy="457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4400" dirty="0">
                <a:solidFill>
                  <a:srgbClr val="7EA9D9"/>
                </a:solidFill>
                <a:latin typeface="Georgia"/>
                <a:ea typeface="Georgia"/>
                <a:cs typeface="Georgia"/>
                <a:sym typeface="Georgia"/>
              </a:rPr>
              <a:t>Foster Partnerships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105525" y="6393180"/>
            <a:ext cx="4333875" cy="19050"/>
            <a:chOff x="0" y="0"/>
            <a:chExt cx="5778500" cy="25400"/>
          </a:xfrm>
        </p:grpSpPr>
        <p:sp>
          <p:nvSpPr>
            <p:cNvPr id="20" name="Freeform 20"/>
            <p:cNvSpPr/>
            <p:nvPr/>
          </p:nvSpPr>
          <p:spPr>
            <a:xfrm>
              <a:off x="16891" y="0"/>
              <a:ext cx="5753100" cy="33909"/>
            </a:xfrm>
            <a:custGeom>
              <a:avLst/>
              <a:gdLst/>
              <a:ahLst/>
              <a:cxnLst/>
              <a:rect l="l" t="t" r="r" b="b"/>
              <a:pathLst>
                <a:path w="5753100" h="33909">
                  <a:moveTo>
                    <a:pt x="0" y="0"/>
                  </a:moveTo>
                  <a:lnTo>
                    <a:pt x="5753100" y="0"/>
                  </a:lnTo>
                  <a:lnTo>
                    <a:pt x="575310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D3D9E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115050" y="7597616"/>
            <a:ext cx="4314825" cy="1439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799">
                <a:solidFill>
                  <a:srgbClr val="D3D9E2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Ensure active participation of women and individuals with disabilities in training and project activities.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115050" y="7015639"/>
            <a:ext cx="5162550" cy="457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4400" dirty="0">
                <a:solidFill>
                  <a:srgbClr val="7EA9D9"/>
                </a:solidFill>
                <a:latin typeface="Georgia"/>
                <a:ea typeface="Georgia"/>
                <a:cs typeface="Georgia"/>
                <a:sym typeface="Georgia"/>
              </a:rPr>
              <a:t>Promote Inclusion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1858625" y="6393180"/>
            <a:ext cx="4333875" cy="19050"/>
            <a:chOff x="0" y="0"/>
            <a:chExt cx="5778500" cy="25400"/>
          </a:xfrm>
        </p:grpSpPr>
        <p:sp>
          <p:nvSpPr>
            <p:cNvPr id="24" name="Freeform 24"/>
            <p:cNvSpPr/>
            <p:nvPr/>
          </p:nvSpPr>
          <p:spPr>
            <a:xfrm>
              <a:off x="16891" y="0"/>
              <a:ext cx="5753100" cy="33909"/>
            </a:xfrm>
            <a:custGeom>
              <a:avLst/>
              <a:gdLst/>
              <a:ahLst/>
              <a:cxnLst/>
              <a:rect l="l" t="t" r="r" b="b"/>
              <a:pathLst>
                <a:path w="5753100" h="33909">
                  <a:moveTo>
                    <a:pt x="0" y="0"/>
                  </a:moveTo>
                  <a:lnTo>
                    <a:pt x="5753100" y="0"/>
                  </a:lnTo>
                  <a:lnTo>
                    <a:pt x="575310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D3D9E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1868150" y="7597616"/>
            <a:ext cx="4314825" cy="1811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799">
                <a:solidFill>
                  <a:srgbClr val="D3D9E2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Share project findings through policy briefs and academic publications to influence sustainable practices in agriculture.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868150" y="7015639"/>
            <a:ext cx="5753100" cy="457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4400" dirty="0">
                <a:solidFill>
                  <a:srgbClr val="7EA9D9"/>
                </a:solidFill>
                <a:latin typeface="Georgia"/>
                <a:ea typeface="Georgia"/>
                <a:cs typeface="Georgia"/>
                <a:sym typeface="Georgia"/>
              </a:rPr>
              <a:t>Disseminate Results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1988" y="9620250"/>
            <a:ext cx="16964025" cy="9525"/>
            <a:chOff x="0" y="0"/>
            <a:chExt cx="22618700" cy="12700"/>
          </a:xfrm>
        </p:grpSpPr>
        <p:sp>
          <p:nvSpPr>
            <p:cNvPr id="3" name="Freeform 3"/>
            <p:cNvSpPr/>
            <p:nvPr/>
          </p:nvSpPr>
          <p:spPr>
            <a:xfrm>
              <a:off x="6350" y="0"/>
              <a:ext cx="22606000" cy="12700"/>
            </a:xfrm>
            <a:custGeom>
              <a:avLst/>
              <a:gdLst/>
              <a:ahLst/>
              <a:cxnLst/>
              <a:rect l="l" t="t" r="r" b="b"/>
              <a:pathLst>
                <a:path w="22606000" h="12700">
                  <a:moveTo>
                    <a:pt x="0" y="0"/>
                  </a:moveTo>
                  <a:lnTo>
                    <a:pt x="22606000" y="0"/>
                  </a:lnTo>
                  <a:lnTo>
                    <a:pt x="22606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3D9E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676690" y="495300"/>
            <a:ext cx="11201400" cy="938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6000" b="1" dirty="0" smtClean="0">
                <a:solidFill>
                  <a:srgbClr val="FFFFFF"/>
                </a:solidFill>
                <a:latin typeface="Georgia Bold"/>
                <a:ea typeface="Georgia Bold"/>
                <a:cs typeface="Georgia Bold"/>
                <a:sym typeface="Georgia Bold"/>
              </a:rPr>
              <a:t>OUTPUTS</a:t>
            </a:r>
            <a:endParaRPr lang="en-US" sz="6000" b="1" dirty="0">
              <a:solidFill>
                <a:srgbClr val="FFFFFF"/>
              </a:solidFill>
              <a:latin typeface="Georgia Bold"/>
              <a:ea typeface="Georgia Bold"/>
              <a:cs typeface="Georgia Bold"/>
              <a:sym typeface="Georgia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49714" y="1474726"/>
            <a:ext cx="17351538" cy="8335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431925" lvl="1" indent="-1106488" algn="l">
              <a:lnSpc>
                <a:spcPts val="6480"/>
              </a:lnSpc>
              <a:buFont typeface="Wingdings" pitchFamily="2" charset="2"/>
              <a:buChar char="q"/>
            </a:pPr>
            <a:r>
              <a:rPr lang="en-US" sz="4000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Prototype system and training toolkit</a:t>
            </a:r>
          </a:p>
          <a:p>
            <a:pPr marL="1431925" lvl="1" indent="-1106488" algn="l">
              <a:lnSpc>
                <a:spcPts val="6480"/>
              </a:lnSpc>
              <a:buFont typeface="Wingdings" pitchFamily="2" charset="2"/>
              <a:buChar char="q"/>
            </a:pPr>
            <a:r>
              <a:rPr lang="en-US" sz="4000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Student-led business models and pitches</a:t>
            </a:r>
          </a:p>
          <a:p>
            <a:pPr marL="1431925" lvl="1" indent="-1106488" algn="l">
              <a:lnSpc>
                <a:spcPts val="6480"/>
              </a:lnSpc>
              <a:buFont typeface="Wingdings" pitchFamily="2" charset="2"/>
              <a:buChar char="q"/>
            </a:pPr>
            <a:r>
              <a:rPr lang="en-US" sz="4000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Workshops and showcase event</a:t>
            </a:r>
          </a:p>
          <a:p>
            <a:pPr marL="1431925" lvl="1" indent="-1106488" algn="l">
              <a:lnSpc>
                <a:spcPts val="6480"/>
              </a:lnSpc>
              <a:buFont typeface="Wingdings" pitchFamily="2" charset="2"/>
              <a:buChar char="q"/>
            </a:pPr>
            <a:r>
              <a:rPr lang="en-US" sz="4000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Policy brief, publications, and knowledge repository</a:t>
            </a:r>
          </a:p>
          <a:p>
            <a:pPr marL="1431925" lvl="1" indent="-1106488" algn="l">
              <a:lnSpc>
                <a:spcPts val="6480"/>
              </a:lnSpc>
              <a:buFont typeface="Wingdings" pitchFamily="2" charset="2"/>
              <a:buChar char="q"/>
            </a:pPr>
            <a:r>
              <a:rPr lang="en-US" sz="4000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Formal partnership </a:t>
            </a:r>
            <a:r>
              <a:rPr lang="en-US" sz="4000" dirty="0" smtClean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agreements</a:t>
            </a:r>
          </a:p>
          <a:p>
            <a:pPr marL="1431925" lvl="1" indent="-1106488">
              <a:lnSpc>
                <a:spcPts val="6480"/>
              </a:lnSpc>
              <a:buFont typeface="Wingdings" pitchFamily="2" charset="2"/>
              <a:buChar char="q"/>
            </a:pPr>
            <a:r>
              <a:rPr lang="en-US" sz="4000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Improved student innovation and employability</a:t>
            </a:r>
          </a:p>
          <a:p>
            <a:pPr marL="1431925" lvl="1" indent="-1106488">
              <a:lnSpc>
                <a:spcPts val="6480"/>
              </a:lnSpc>
              <a:buFont typeface="Wingdings" pitchFamily="2" charset="2"/>
              <a:buChar char="q"/>
            </a:pPr>
            <a:r>
              <a:rPr lang="en-US" sz="4000" dirty="0" err="1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Institutionalisation</a:t>
            </a:r>
            <a:r>
              <a:rPr lang="en-US" sz="4000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of innovation tools</a:t>
            </a:r>
          </a:p>
          <a:p>
            <a:pPr marL="1431925" lvl="1" indent="-1106488">
              <a:lnSpc>
                <a:spcPts val="6480"/>
              </a:lnSpc>
              <a:buFont typeface="Wingdings" pitchFamily="2" charset="2"/>
              <a:buChar char="q"/>
            </a:pPr>
            <a:r>
              <a:rPr lang="en-US" sz="4000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Sustained multi-stakeholder partnerships</a:t>
            </a:r>
          </a:p>
          <a:p>
            <a:pPr marL="1431925" lvl="1" indent="-1106488">
              <a:lnSpc>
                <a:spcPts val="6480"/>
              </a:lnSpc>
              <a:buFont typeface="Wingdings" pitchFamily="2" charset="2"/>
              <a:buChar char="q"/>
            </a:pPr>
            <a:r>
              <a:rPr lang="en-US" sz="4000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Scalable model for green enterprise education</a:t>
            </a:r>
          </a:p>
          <a:p>
            <a:pPr marL="1431925" lvl="1" indent="-1106488" algn="l">
              <a:lnSpc>
                <a:spcPts val="6480"/>
              </a:lnSpc>
              <a:buFont typeface="Arial"/>
              <a:buChar char="•"/>
            </a:pPr>
            <a:endParaRPr lang="en-US" sz="4000" dirty="0">
              <a:solidFill>
                <a:srgbClr val="FFFFFF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8200" y="513522"/>
            <a:ext cx="16002000" cy="7171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0" dirty="0" smtClean="0">
                <a:solidFill>
                  <a:schemeClr val="bg1"/>
                </a:solidFill>
                <a:latin typeface="Georgia Bold" pitchFamily="18" charset="0"/>
                <a:cs typeface="Arial" panose="020B0604020202020204" pitchFamily="34" charset="0"/>
              </a:rPr>
              <a:t>BENEFITS</a:t>
            </a:r>
          </a:p>
          <a:p>
            <a:pPr algn="ctr"/>
            <a:endParaRPr lang="en-GB" sz="40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 algn="just">
              <a:buFont typeface="Wingdings" pitchFamily="2" charset="2"/>
              <a:buChar char="q"/>
            </a:pPr>
            <a:r>
              <a:rPr lang="en-US" sz="4000" dirty="0">
                <a:solidFill>
                  <a:schemeClr val="bg1"/>
                </a:solidFill>
                <a:latin typeface="TT Interphases" charset="0"/>
                <a:cs typeface="Arial" panose="020B0604020202020204" pitchFamily="34" charset="0"/>
              </a:rPr>
              <a:t>The project will build long-term, </a:t>
            </a:r>
            <a:r>
              <a:rPr lang="en-US" sz="4000" dirty="0" smtClean="0">
                <a:solidFill>
                  <a:schemeClr val="bg1"/>
                </a:solidFill>
                <a:latin typeface="TT Interphases" charset="0"/>
                <a:cs typeface="Arial" panose="020B0604020202020204" pitchFamily="34" charset="0"/>
              </a:rPr>
              <a:t>multi-stakeholder partnerships across academia, industry, and the public sector, improving the alignment of higher education outputs with real-world needs. </a:t>
            </a:r>
          </a:p>
          <a:p>
            <a:pPr marL="571500" indent="-571500" algn="just">
              <a:buFont typeface="Wingdings" pitchFamily="2" charset="2"/>
              <a:buChar char="q"/>
            </a:pPr>
            <a:endParaRPr lang="en-US" sz="4000" dirty="0">
              <a:solidFill>
                <a:schemeClr val="bg1"/>
              </a:solidFill>
              <a:latin typeface="TT Interphases" charset="0"/>
              <a:cs typeface="Arial" panose="020B0604020202020204" pitchFamily="34" charset="0"/>
            </a:endParaRPr>
          </a:p>
          <a:p>
            <a:pPr marL="571500" indent="-571500" algn="just">
              <a:buFont typeface="Wingdings" pitchFamily="2" charset="2"/>
              <a:buChar char="q"/>
            </a:pPr>
            <a:r>
              <a:rPr lang="en-US" sz="4000" dirty="0" smtClean="0">
                <a:solidFill>
                  <a:schemeClr val="bg1"/>
                </a:solidFill>
                <a:latin typeface="TT Interphases" charset="0"/>
                <a:cs typeface="Arial" panose="020B0604020202020204" pitchFamily="34" charset="0"/>
              </a:rPr>
              <a:t>The </a:t>
            </a:r>
            <a:r>
              <a:rPr lang="en-US" sz="4000" dirty="0">
                <a:solidFill>
                  <a:schemeClr val="bg1"/>
                </a:solidFill>
                <a:latin typeface="TT Interphases" charset="0"/>
                <a:cs typeface="Arial" panose="020B0604020202020204" pitchFamily="34" charset="0"/>
              </a:rPr>
              <a:t>UK-Nigeria alliance will provide University of </a:t>
            </a:r>
            <a:r>
              <a:rPr lang="en-US" sz="4000" dirty="0" err="1">
                <a:solidFill>
                  <a:schemeClr val="bg1"/>
                </a:solidFill>
                <a:latin typeface="TT Interphases" charset="0"/>
                <a:cs typeface="Arial" panose="020B0604020202020204" pitchFamily="34" charset="0"/>
              </a:rPr>
              <a:t>Uyo</a:t>
            </a:r>
            <a:r>
              <a:rPr lang="en-US" sz="4000" dirty="0">
                <a:solidFill>
                  <a:schemeClr val="bg1"/>
                </a:solidFill>
                <a:latin typeface="TT Interphases" charset="0"/>
                <a:cs typeface="Arial" panose="020B0604020202020204" pitchFamily="34" charset="0"/>
              </a:rPr>
              <a:t> with access to cutting-edge research, mentorship models, and entrepreneurship support structures from Manchester Metropolitan University. Simultaneously, Nigerian institutions will contribute local insights</a:t>
            </a:r>
          </a:p>
          <a:p>
            <a:endParaRPr lang="en-US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8359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1988" y="9620250"/>
            <a:ext cx="16964025" cy="9525"/>
            <a:chOff x="0" y="0"/>
            <a:chExt cx="22618700" cy="12700"/>
          </a:xfrm>
        </p:grpSpPr>
        <p:sp>
          <p:nvSpPr>
            <p:cNvPr id="3" name="Freeform 3"/>
            <p:cNvSpPr/>
            <p:nvPr/>
          </p:nvSpPr>
          <p:spPr>
            <a:xfrm>
              <a:off x="6350" y="0"/>
              <a:ext cx="22606000" cy="12700"/>
            </a:xfrm>
            <a:custGeom>
              <a:avLst/>
              <a:gdLst/>
              <a:ahLst/>
              <a:cxnLst/>
              <a:rect l="l" t="t" r="r" b="b"/>
              <a:pathLst>
                <a:path w="22606000" h="12700">
                  <a:moveTo>
                    <a:pt x="0" y="0"/>
                  </a:moveTo>
                  <a:lnTo>
                    <a:pt x="22606000" y="0"/>
                  </a:lnTo>
                  <a:lnTo>
                    <a:pt x="22606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3D9E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666750" y="781050"/>
            <a:ext cx="11201400" cy="938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6000" b="1" dirty="0" smtClean="0">
                <a:solidFill>
                  <a:srgbClr val="FFFFFF"/>
                </a:solidFill>
                <a:latin typeface="Georgia Bold"/>
                <a:ea typeface="Georgia Bold"/>
                <a:cs typeface="Georgia Bold"/>
                <a:sym typeface="Georgia Bold"/>
              </a:rPr>
              <a:t>IMPACT &amp; </a:t>
            </a:r>
            <a:r>
              <a:rPr lang="en-US" sz="6000" b="1" dirty="0" err="1" smtClean="0">
                <a:solidFill>
                  <a:srgbClr val="FFFFFF"/>
                </a:solidFill>
                <a:latin typeface="Georgia Bold"/>
                <a:ea typeface="Georgia Bold"/>
                <a:cs typeface="Georgia Bold"/>
                <a:sym typeface="Georgia Bold"/>
              </a:rPr>
              <a:t>SDGS</a:t>
            </a:r>
            <a:endParaRPr lang="en-US" sz="6000" b="1" dirty="0">
              <a:solidFill>
                <a:srgbClr val="FFFFFF"/>
              </a:solidFill>
              <a:latin typeface="Georgia Bold"/>
              <a:ea typeface="Georgia Bold"/>
              <a:cs typeface="Georgia Bold"/>
              <a:sym typeface="Georgia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57201" y="2019300"/>
            <a:ext cx="17164050" cy="2415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11238" lvl="1" indent="-685800" algn="l">
              <a:lnSpc>
                <a:spcPts val="6480"/>
              </a:lnSpc>
              <a:buFont typeface="Wingdings" pitchFamily="2" charset="2"/>
              <a:buChar char="q"/>
            </a:pPr>
            <a:r>
              <a:rPr lang="en-US" sz="4000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SDG 2: Reduce food loss via solar-powered systems</a:t>
            </a:r>
          </a:p>
          <a:p>
            <a:pPr marL="1011238" lvl="1" indent="-685800" algn="l">
              <a:lnSpc>
                <a:spcPts val="6480"/>
              </a:lnSpc>
              <a:buFont typeface="Wingdings" pitchFamily="2" charset="2"/>
              <a:buChar char="q"/>
            </a:pPr>
            <a:r>
              <a:rPr lang="en-US" sz="4000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SDG 7: Expand clean energy access in agriculture</a:t>
            </a:r>
          </a:p>
          <a:p>
            <a:pPr marL="1011238" lvl="1" indent="-685800" algn="l">
              <a:lnSpc>
                <a:spcPts val="6480"/>
              </a:lnSpc>
              <a:buFont typeface="Wingdings" pitchFamily="2" charset="2"/>
              <a:buChar char="q"/>
            </a:pPr>
            <a:r>
              <a:rPr lang="en-US" sz="4000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SDG 12: Promote circular economy and resource efficiency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1988" y="9620250"/>
            <a:ext cx="16964025" cy="9525"/>
            <a:chOff x="0" y="0"/>
            <a:chExt cx="22618700" cy="12700"/>
          </a:xfrm>
        </p:grpSpPr>
        <p:sp>
          <p:nvSpPr>
            <p:cNvPr id="3" name="Freeform 3"/>
            <p:cNvSpPr/>
            <p:nvPr/>
          </p:nvSpPr>
          <p:spPr>
            <a:xfrm>
              <a:off x="6350" y="0"/>
              <a:ext cx="22606000" cy="12700"/>
            </a:xfrm>
            <a:custGeom>
              <a:avLst/>
              <a:gdLst/>
              <a:ahLst/>
              <a:cxnLst/>
              <a:rect l="l" t="t" r="r" b="b"/>
              <a:pathLst>
                <a:path w="22606000" h="12700">
                  <a:moveTo>
                    <a:pt x="0" y="0"/>
                  </a:moveTo>
                  <a:lnTo>
                    <a:pt x="22606000" y="0"/>
                  </a:lnTo>
                  <a:lnTo>
                    <a:pt x="22606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3D9E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828800" y="781050"/>
            <a:ext cx="11201400" cy="938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6000" b="1" dirty="0" smtClean="0">
                <a:solidFill>
                  <a:srgbClr val="FFFFFF"/>
                </a:solidFill>
                <a:latin typeface="Georgia Bold"/>
                <a:ea typeface="Georgia Bold"/>
                <a:cs typeface="Georgia Bold"/>
                <a:sym typeface="Georgia Bold"/>
              </a:rPr>
              <a:t>IMPLEMENTATION PLAN</a:t>
            </a:r>
            <a:endParaRPr lang="en-US" sz="6000" b="1" dirty="0">
              <a:solidFill>
                <a:srgbClr val="FFFFFF"/>
              </a:solidFill>
              <a:latin typeface="Georgia Bold"/>
              <a:ea typeface="Georgia Bold"/>
              <a:cs typeface="Georgia Bold"/>
              <a:sym typeface="Georgia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97565" y="2171700"/>
            <a:ext cx="15621000" cy="31046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000125" lvl="1" indent="-685800" algn="l">
              <a:lnSpc>
                <a:spcPts val="6239"/>
              </a:lnSpc>
              <a:buFont typeface="Wingdings" pitchFamily="2" charset="2"/>
              <a:buChar char="q"/>
            </a:pPr>
            <a:r>
              <a:rPr lang="en-US" sz="4000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Capacity building and prototype development</a:t>
            </a:r>
          </a:p>
          <a:p>
            <a:pPr marL="1000125" lvl="1" indent="-685800" algn="l">
              <a:lnSpc>
                <a:spcPts val="6239"/>
              </a:lnSpc>
              <a:buFont typeface="Wingdings" pitchFamily="2" charset="2"/>
              <a:buChar char="q"/>
            </a:pPr>
            <a:r>
              <a:rPr lang="en-US" sz="4000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Workshops, mentoring, and student innovation challenges</a:t>
            </a:r>
          </a:p>
          <a:p>
            <a:pPr marL="1000125" lvl="1" indent="-685800" algn="l">
              <a:lnSpc>
                <a:spcPts val="6239"/>
              </a:lnSpc>
              <a:buFont typeface="Wingdings" pitchFamily="2" charset="2"/>
              <a:buChar char="q"/>
            </a:pPr>
            <a:r>
              <a:rPr lang="en-US" sz="4000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Stakeholder engagement and dissemination</a:t>
            </a:r>
          </a:p>
          <a:p>
            <a:pPr marL="1000125" lvl="1" indent="-685800" algn="l">
              <a:lnSpc>
                <a:spcPts val="6239"/>
              </a:lnSpc>
              <a:buFont typeface="Wingdings" pitchFamily="2" charset="2"/>
              <a:buChar char="q"/>
            </a:pPr>
            <a:r>
              <a:rPr lang="en-US" sz="4000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Monitoring and evaluation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1988" y="9620250"/>
            <a:ext cx="16964025" cy="9525"/>
            <a:chOff x="0" y="0"/>
            <a:chExt cx="22618700" cy="12700"/>
          </a:xfrm>
        </p:grpSpPr>
        <p:sp>
          <p:nvSpPr>
            <p:cNvPr id="3" name="Freeform 3"/>
            <p:cNvSpPr/>
            <p:nvPr/>
          </p:nvSpPr>
          <p:spPr>
            <a:xfrm>
              <a:off x="6350" y="0"/>
              <a:ext cx="22606000" cy="12700"/>
            </a:xfrm>
            <a:custGeom>
              <a:avLst/>
              <a:gdLst/>
              <a:ahLst/>
              <a:cxnLst/>
              <a:rect l="l" t="t" r="r" b="b"/>
              <a:pathLst>
                <a:path w="22606000" h="12700">
                  <a:moveTo>
                    <a:pt x="0" y="0"/>
                  </a:moveTo>
                  <a:lnTo>
                    <a:pt x="22606000" y="0"/>
                  </a:lnTo>
                  <a:lnTo>
                    <a:pt x="22606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3D9E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676400" y="324198"/>
            <a:ext cx="13944600" cy="1013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6000" b="1" dirty="0" smtClean="0">
                <a:solidFill>
                  <a:srgbClr val="FFFFFF"/>
                </a:solidFill>
                <a:latin typeface="Georgia Bold"/>
                <a:ea typeface="Georgia Bold"/>
                <a:cs typeface="Georgia Bold"/>
                <a:sym typeface="Georgia Bold"/>
              </a:rPr>
              <a:t>SUSTAINABILITY &amp; SCALABILITY</a:t>
            </a:r>
            <a:endParaRPr lang="en-US" sz="6000" b="1" dirty="0">
              <a:solidFill>
                <a:srgbClr val="FFFFFF"/>
              </a:solidFill>
              <a:latin typeface="Georgia Bold"/>
              <a:ea typeface="Georgia Bold"/>
              <a:cs typeface="Georgia Bold"/>
              <a:sym typeface="Georgia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62001" y="1865243"/>
            <a:ext cx="16764000" cy="3248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11238" lvl="1" indent="-685800" algn="l">
              <a:lnSpc>
                <a:spcPts val="6480"/>
              </a:lnSpc>
              <a:buFont typeface="Wingdings" pitchFamily="2" charset="2"/>
              <a:buChar char="q"/>
            </a:pPr>
            <a:r>
              <a:rPr lang="en-US" sz="4000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Curriculum integration and institutional ownership</a:t>
            </a:r>
          </a:p>
          <a:p>
            <a:pPr marL="1011238" lvl="1" indent="-685800" algn="l">
              <a:lnSpc>
                <a:spcPts val="6480"/>
              </a:lnSpc>
              <a:buFont typeface="Wingdings" pitchFamily="2" charset="2"/>
              <a:buChar char="q"/>
            </a:pPr>
            <a:r>
              <a:rPr lang="en-US" sz="4000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Ongoing UK–Nigeria collaboration</a:t>
            </a:r>
          </a:p>
          <a:p>
            <a:pPr marL="1011238" lvl="1" indent="-685800" algn="l">
              <a:lnSpc>
                <a:spcPts val="6480"/>
              </a:lnSpc>
              <a:buFont typeface="Wingdings" pitchFamily="2" charset="2"/>
              <a:buChar char="q"/>
            </a:pPr>
            <a:r>
              <a:rPr lang="en-US" sz="4000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Replication across </a:t>
            </a:r>
            <a:r>
              <a:rPr lang="en-US" sz="4000" dirty="0" smtClean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Sub-Sahara Africa (</a:t>
            </a:r>
            <a:r>
              <a:rPr lang="en-US" sz="4000" dirty="0" err="1" smtClean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SSA</a:t>
            </a:r>
            <a:r>
              <a:rPr lang="en-US" sz="4000" dirty="0" smtClean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)  </a:t>
            </a:r>
            <a:r>
              <a:rPr lang="en-US" sz="4000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institutions</a:t>
            </a:r>
          </a:p>
          <a:p>
            <a:pPr marL="1011238" lvl="1" indent="-685800" algn="l">
              <a:lnSpc>
                <a:spcPts val="6480"/>
              </a:lnSpc>
              <a:buFont typeface="Wingdings" pitchFamily="2" charset="2"/>
              <a:buChar char="q"/>
            </a:pPr>
            <a:r>
              <a:rPr lang="en-US" sz="4000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Industry and policy engagement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420</Words>
  <Application>Microsoft Office PowerPoint</Application>
  <PresentationFormat>Custom</PresentationFormat>
  <Paragraphs>55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Georgia</vt:lpstr>
      <vt:lpstr>Georgia Bold</vt:lpstr>
      <vt:lpstr>TT Interphases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AgroSolar Technopreneurship and Innovation Centre (ASTIC).pptx</dc:title>
  <dc:creator>Emem Cookey</dc:creator>
  <cp:lastModifiedBy>User</cp:lastModifiedBy>
  <cp:revision>14</cp:revision>
  <dcterms:created xsi:type="dcterms:W3CDTF">2006-08-16T00:00:00Z</dcterms:created>
  <dcterms:modified xsi:type="dcterms:W3CDTF">2026-09-23T20:12:00Z</dcterms:modified>
  <dc:identifier>DAG_yqNX4iE</dc:identifier>
</cp:coreProperties>
</file>